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2"/>
    <p:sldId id="265" r:id="rId3"/>
    <p:sldId id="266" r:id="rId4"/>
    <p:sldId id="267" r:id="rId5"/>
    <p:sldId id="276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>
        <p:scale>
          <a:sx n="75" d="100"/>
          <a:sy n="75" d="100"/>
        </p:scale>
        <p:origin x="974" y="360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2B48F5-BACC-47D6-A0F7-82FBF9C6BC85}" type="datetimeFigureOut">
              <a:rPr lang="en-US"/>
              <a:t>12/22/2025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ACAF8E-318A-4EFE-8633-D9E72ABCE0ED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655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1CD00-5424-4675-AB18-2C419B060449}" type="datetimeFigureOut">
              <a:rPr lang="en-US"/>
              <a:t>12/22/2025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E2CF44-2B13-41B4-A334-1CDF534EEBB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53856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 bwMode="gray">
          <a:xfrm>
            <a:off x="0" y="2825016"/>
            <a:ext cx="12188952" cy="3180930"/>
          </a:xfrm>
          <a:prstGeom prst="rect">
            <a:avLst/>
          </a:prstGeom>
          <a:solidFill>
            <a:schemeClr val="bg1">
              <a:lumMod val="85000"/>
              <a:lumOff val="1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 bwMode="black">
          <a:xfrm>
            <a:off x="0" y="3075709"/>
            <a:ext cx="12188952" cy="26392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1066800" y="3165763"/>
            <a:ext cx="10058400" cy="1711037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1066800" y="4953000"/>
            <a:ext cx="10058400" cy="6858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p:transition spd="slow" advClick="0">
    <p:cove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p:transition spd="slow" advClick="0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1828800"/>
            <a:ext cx="9144000" cy="2743200"/>
          </a:xfrm>
        </p:spPr>
        <p:txBody>
          <a:bodyPr anchor="b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4589463"/>
            <a:ext cx="9144000" cy="150653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p:transition spd="slow" advClick="0">
    <p:cove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4343400" cy="42703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p:transition spd="slow" advClick="0">
    <p:cove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70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70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7648" y="1828800"/>
            <a:ext cx="43434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7648" y="2514600"/>
            <a:ext cx="4343400" cy="3581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p:transition spd="slow" advClick="0">
    <p:cove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p:transition spd="slow" advClick="0">
    <p:cove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p:transition spd="slow" advClick="0">
    <p:cove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2587" y="1600200"/>
            <a:ext cx="3122613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0412" y="762000"/>
            <a:ext cx="6400800" cy="5334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001039" y="3429000"/>
            <a:ext cx="3124161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p:transition spd="slow" advClick="0">
    <p:cove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7952" y="1600200"/>
            <a:ext cx="3127248" cy="18288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81251" y="777240"/>
            <a:ext cx="6400800" cy="530352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97952" y="3429000"/>
            <a:ext cx="3127248" cy="1828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7" descr="An empty placeholder to add an image. Click on the placeholder and select the image that you wish to add."/>
          <p:cNvSpPr/>
          <p:nvPr userDrawn="1"/>
        </p:nvSpPr>
        <p:spPr bwMode="blackWhite">
          <a:xfrm>
            <a:off x="644091" y="640080"/>
            <a:ext cx="6675120" cy="5577840"/>
          </a:xfrm>
          <a:prstGeom prst="rect">
            <a:avLst/>
          </a:prstGeom>
          <a:solidFill>
            <a:srgbClr val="000000"/>
          </a:solidFill>
          <a:ln w="101600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p:transition spd="slow" advClick="0">
    <p:cove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p:transition spd="slow" advClick="0">
    <p:cove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57199"/>
            <a:ext cx="1943100" cy="56388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457199"/>
            <a:ext cx="7048500" cy="56388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p:transition spd="slow" advClick="0">
    <p:cove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8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4000" y="6362700"/>
            <a:ext cx="6881553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10600" y="6362700"/>
            <a:ext cx="9906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12/22/2025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6362700"/>
            <a:ext cx="838200" cy="2571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85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 advClick="0">
    <p:cover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150876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33172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92000"/>
            <a:lum/>
          </a:blip>
          <a:srcRect/>
          <a:stretch>
            <a:fillRect t="-65000" b="-6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77420F-004B-8E88-681E-A9A6EE74A1F3}"/>
              </a:ext>
            </a:extLst>
          </p:cNvPr>
          <p:cNvSpPr/>
          <p:nvPr/>
        </p:nvSpPr>
        <p:spPr>
          <a:xfrm>
            <a:off x="0" y="0"/>
            <a:ext cx="12268200" cy="6858000"/>
          </a:xfrm>
          <a:prstGeom prst="rect">
            <a:avLst/>
          </a:prstGeom>
          <a:solidFill>
            <a:schemeClr val="bg1">
              <a:lumMod val="95000"/>
              <a:lumOff val="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901142"/>
            <a:ext cx="10058400" cy="171103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Banking Management System (IBMS)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5034742"/>
            <a:ext cx="10058400" cy="6858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SEEMAL RIZWAN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SHAHRYAR AMEER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D38C0C-7B23-58CC-F547-F67C4D8EC157}"/>
              </a:ext>
            </a:extLst>
          </p:cNvPr>
          <p:cNvSpPr txBox="1"/>
          <p:nvPr/>
        </p:nvSpPr>
        <p:spPr>
          <a:xfrm>
            <a:off x="9829800" y="5192976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EE-46-A</a:t>
            </a:r>
          </a:p>
        </p:txBody>
      </p:sp>
    </p:spTree>
    <p:extLst>
      <p:ext uri="{BB962C8B-B14F-4D97-AF65-F5344CB8AC3E}">
        <p14:creationId xmlns:p14="http://schemas.microsoft.com/office/powerpoint/2010/main" val="2424538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17CCE-EB9B-D4F6-9F46-C302839AB8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8440" y="2056342"/>
            <a:ext cx="9301201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demonstrate the application of fundamental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advanced data structures in a real-world scenario.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Modules: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1: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Transaction &amp; Account Management (Persistence and Logic).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2: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Budget Classification (Analytics and Reporting).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Customer Queue &amp; Event Simulation (Operations).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826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Reliability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4F440C0-857D-4E92-B104-AFA389174A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0" y="1808701"/>
            <a:ext cx="7417415" cy="4307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Handling user errors in financial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Implemented: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Stacks (LIFO)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Logic: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Undo Stack: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Every deposit/withdraw action is pushed onto the stack.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 "Undo" is called, the top element is popped, 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and the account balance is reverted.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6190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327865"/>
            <a:ext cx="91440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– Transaction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825625"/>
            <a:ext cx="10210800" cy="470451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Helping users understand their spending habits through categorization.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Implementation: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Transaction IDs: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System-generated IDs link transactions to categories.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Keyword-Based Classification: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User-defined labels (Food, Utilities, etc.) update the category field within the transaction history.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UI Feature: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"Show All Categorizations" report that consolidates data across all accounts.</a:t>
            </a:r>
          </a:p>
          <a:p>
            <a:pPr>
              <a:lnSpc>
                <a:spcPct val="150000"/>
              </a:lnSpc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261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C4872A9-5010-4473-7912-4E32AE75E639}"/>
              </a:ext>
            </a:extLst>
          </p:cNvPr>
          <p:cNvSpPr txBox="1"/>
          <p:nvPr/>
        </p:nvSpPr>
        <p:spPr>
          <a:xfrm>
            <a:off x="1219200" y="609600"/>
            <a:ext cx="9220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Customer Queue &amp; Event Simulation</a:t>
            </a:r>
            <a:endParaRPr lang="en-US" sz="3400" dirty="0">
              <a:solidFill>
                <a:schemeClr val="accent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3F86FB0-5A14-EA1C-928E-F6DC2183855B}"/>
              </a:ext>
            </a:extLst>
          </p:cNvPr>
          <p:cNvSpPr txBox="1">
            <a:spLocks/>
          </p:cNvSpPr>
          <p:nvPr/>
        </p:nvSpPr>
        <p:spPr>
          <a:xfrm>
            <a:off x="1371600" y="1825625"/>
            <a:ext cx="10210800" cy="470451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Clr>
                <a:schemeClr val="accent1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317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6060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 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Managing customer flow in a physical branch during peak hours.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Implemented: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Queues (FIFO):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regular customer service.</a:t>
            </a:r>
          </a:p>
          <a:p>
            <a:pPr lvl="1">
              <a:lnSpc>
                <a:spcPct val="16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handle VIP customers who must be served before the regular queue.</a:t>
            </a:r>
          </a:p>
          <a:p>
            <a:pPr lvl="1">
              <a:lnSpc>
                <a:spcPct val="160000"/>
              </a:lnSpc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event simulation and memory efficiency.</a:t>
            </a:r>
          </a:p>
          <a:p>
            <a:pPr>
              <a:lnSpc>
                <a:spcPct val="16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Simulation Logic: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Activation Records to simulate branching events.</a:t>
            </a:r>
          </a:p>
        </p:txBody>
      </p:sp>
    </p:spTree>
    <p:extLst>
      <p:ext uri="{BB962C8B-B14F-4D97-AF65-F5344CB8AC3E}">
        <p14:creationId xmlns:p14="http://schemas.microsoft.com/office/powerpoint/2010/main" val="2556455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70858-EE1C-4B66-B620-7C60F70CB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85800"/>
            <a:ext cx="10401300" cy="6858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691C02-7ECB-EC1B-02C1-6B7DBF254C25}"/>
              </a:ext>
            </a:extLst>
          </p:cNvPr>
          <p:cNvSpPr txBox="1"/>
          <p:nvPr/>
        </p:nvSpPr>
        <p:spPr>
          <a:xfrm>
            <a:off x="1295400" y="1905000"/>
            <a:ext cx="10172700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implemented a robust system where complex data structures solve everyday banking tasks.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World Examples: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IMALR14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PINACLE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ALKAMI</a:t>
            </a:r>
          </a:p>
          <a:p>
            <a:pPr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0109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>
        <p159:morph option="byObject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Tech Computer 16x9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901026.potx" id="{FD85E87A-7813-4F67-9E59-69B5487A1910}" vid="{BDF94C36-3ACF-4CF1-939F-F4211E6D666F}"/>
    </a:ext>
  </a:extLst>
</a:theme>
</file>

<file path=ppt/theme/theme2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chComputer">
      <a:dk1>
        <a:srgbClr val="000000"/>
      </a:dk1>
      <a:lt1>
        <a:sysClr val="window" lastClr="FFFFFF"/>
      </a:lt1>
      <a:dk2>
        <a:srgbClr val="4D4D4D"/>
      </a:dk2>
      <a:lt2>
        <a:srgbClr val="DDDDDD"/>
      </a:lt2>
      <a:accent1>
        <a:srgbClr val="92D050"/>
      </a:accent1>
      <a:accent2>
        <a:srgbClr val="F7C331"/>
      </a:accent2>
      <a:accent3>
        <a:srgbClr val="47B8C7"/>
      </a:accent3>
      <a:accent4>
        <a:srgbClr val="B074BA"/>
      </a:accent4>
      <a:accent5>
        <a:srgbClr val="F34D47"/>
      </a:accent5>
      <a:accent6>
        <a:srgbClr val="FA8F30"/>
      </a:accent6>
      <a:hlink>
        <a:srgbClr val="47B8C7"/>
      </a:hlink>
      <a:folHlink>
        <a:srgbClr val="969696"/>
      </a:folHlink>
    </a:clrScheme>
    <a:fontScheme name="Consolas-Candara">
      <a:majorFont>
        <a:latin typeface="Consolas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932</TotalTime>
  <Words>294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Candara</vt:lpstr>
      <vt:lpstr>Consolas</vt:lpstr>
      <vt:lpstr>Times New Roman</vt:lpstr>
      <vt:lpstr>Tech Computer 16x9</vt:lpstr>
      <vt:lpstr>Intelligent Banking Management System (IBMS)</vt:lpstr>
      <vt:lpstr>INTRO</vt:lpstr>
      <vt:lpstr>Module 1 – Reliability</vt:lpstr>
      <vt:lpstr>Module 2 – Transaction Classification</vt:lpstr>
      <vt:lpstr>PowerPoint Presentation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Sayem Ul Haq</dc:creator>
  <cp:lastModifiedBy>Muhammad Shahryar Ameer</cp:lastModifiedBy>
  <cp:revision>54</cp:revision>
  <dcterms:created xsi:type="dcterms:W3CDTF">2024-12-25T08:28:32Z</dcterms:created>
  <dcterms:modified xsi:type="dcterms:W3CDTF">2025-12-22T05:13:43Z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